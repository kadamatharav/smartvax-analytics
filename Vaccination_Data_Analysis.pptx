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VACCINATION DATA ANALYSIS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Visualization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379476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77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Trends in Vaccination Coverage, Disease Incidence &amp; Impact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Oracle SQL  •  Power BI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&amp; Epidemiology Analytics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coverage, disease incidence, and vaccine-effectiveness data were cleaned, structured into a normalized Oracle SQL database, and analyzed to surface insights for public-health strategy, disease prevention, and resource allocation.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73552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13639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Strategy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vaccination-program effectiveness and prioritize under-covered populations.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8862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Prevention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17880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diseases with high incidence despite vaccination, and booster-policy gaps.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77316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63600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928616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regions with low coverage for supply and outreach investment.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5522976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385816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 Policy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678424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evidence for vaccination policy and progress toward WHO targets.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0" y="1600200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40487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 (1980–2023)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3291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36499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antigens tracked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251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432511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under surveillance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5212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528523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datasets, normalized into a star-schema SQL database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Data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560320" cy="4206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46120"/>
            <a:ext cx="21945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— missing values imputed, units normalized, years standardized across 5 raw source files.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691640"/>
            <a:ext cx="2560320" cy="4206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832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26060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3246120"/>
            <a:ext cx="21945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loaded into a normalized Oracle schema: fact tables (coverage, cases, incidence, schedule, introduction) with dimension tables (geo, disease, antigen, year).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1691640"/>
            <a:ext cx="2560320" cy="4206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076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807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6060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246120"/>
            <a:ext cx="21945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project questions answered via SQL joins/aggregations, validated and explored in Jupyter with pandas &amp; correlation analysis.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49640" y="1691640"/>
            <a:ext cx="2560320" cy="4206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77824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778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732520" y="26060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732520" y="3246120"/>
            <a:ext cx="21945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connect to the SQL layer for interactive, filterable exploration of coverage, incidence and disparities.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Q1 &amp; Q9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Vaccination Coverage vs. 90% Target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406640" cy="4572000"/>
          </a:xfrm>
          <a:prstGeom prst="roundRect">
            <a:avLst>
              <a:gd name="adj" fmla="val 12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coverage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04088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92440" y="160020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6676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148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 growth, plateauing short of target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06324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global coverage across all antigens climbed from 44.3% (1980) to a peak of ~84.5% (2009), then plateaued around 79–84% through 2023 — consistently below the WHO's 90% target.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COVID-era years (2020–2021) show a visible dip, reflecting pandemic disruption to routine immunization.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Q6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Booster Dose Coverage Trend (2017–2023)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406640" cy="4572000"/>
          </a:xfrm>
          <a:prstGeom prst="roundRect">
            <a:avLst>
              <a:gd name="adj" fmla="val 12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booster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04088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92440" y="160020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6676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148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Booster uptake dipped, then recovered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06324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booster-dose coverage (diphtheria/tetanus/pertussis boosters) fell from 83.3% in 2017 to a low of 79.2% in 2020, coinciding with pandemic disruption, before recovering to 81.4% by 2023.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uptake still trails first-dose coverage, consistent with a general drop-off pattern across multi-dose schedules.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Measles (MCV1) Coverage vs. 95% Elimination Target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406640" cy="4572000"/>
          </a:xfrm>
          <a:prstGeom prst="roundRect">
            <a:avLst>
              <a:gd name="adj" fmla="val 12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measles_targ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04088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92440" y="160020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6676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148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Elimination target not yet met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06324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MCV1 coverage rose sharply from 41.2% (1980) to ~81% by 1999, but has never reached the 95% coverage WHO considers necessary for measles elimination.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persistent gap (13–54 percentage points over the period shown) explains recurring measles outbreaks even in generally well-vaccinated populations.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Q2/Q3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Burden: Top 10 Diseases by Reported Cases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406640" cy="4572000"/>
          </a:xfrm>
          <a:prstGeom prst="roundRect">
            <a:avLst>
              <a:gd name="adj" fmla="val 12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disease_cas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04088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92440" y="160020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6676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148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Measles dominates the case burden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06324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Measles accounts for ~144M reported cases (1980–2023) — more than the next two diseases (pertussis, mumps) combined.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High-burden, high-transmissibility diseases with imperfect coverage (measles, pertussis) remain the leading drivers of vaccine-preventable illness globally.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Q3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Vaccination Impact: Case Reduction, 1980 → 2023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406640" cy="4572000"/>
          </a:xfrm>
          <a:prstGeom prst="roundRect">
            <a:avLst>
              <a:gd name="adj" fmla="val 12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disease_redu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04088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92440" y="160020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6676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148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Vaccination is working — dramatically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06324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Poliomyelitis cases fell 99% between 1980 and 2023. Pertussis fell 92%, measles 83%, tetanus and diphtheria 75–81%.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reductions track closely with rising antigen coverage over the same period, providing strong directional evidence for vaccination effectiveness (see correlation analysis, next).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Polio: A Vaccination Success Story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406640" cy="4572000"/>
          </a:xfrm>
          <a:prstGeom prst="roundRect">
            <a:avLst>
              <a:gd name="adj" fmla="val 12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olio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04088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92440" y="160020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6676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148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Near-elimination of a once-major disease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06324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polio cases collapsed from ~158,000 in 1980 to a low of 126 in 2016 — a &gt;99.9% reduction — closely tracking sustained high OPV/IPV coverage.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resurgence (2019–2023, up to ~3,300 cases) underscores the need for continued vigilance even after major progress.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Lowest Measles Coverage — Countries &amp; Regions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406640" cy="4572000"/>
          </a:xfrm>
          <a:prstGeom prst="roundRect">
            <a:avLst>
              <a:gd name="adj" fmla="val 12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low_cover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04088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92440" y="160020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6676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148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allocation priorities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06324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Somalia (38.5%), Ethiopia (45.8%) and West &amp; Central Africa (47.1%) show the lowest average MCV1 coverage — all well under half the target population reached.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countries as a group average 51.4% coverage, reinforcing the case for targeted resource allocation and supply-chain investment in these regions.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Q1 / Q2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Coverage–Incidence Link &amp; Dose Drop-off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MCV1 COVERAGE vs. MEASLES INCIDENCE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−0.205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correlation across 21,707 country-year records confirms higher measles vaccination coverage is associated with lower measles incidence, as expected. The moderate (not strong) coefficient reflects real-world confounders — outbreak lag, under-reporting, and coverage-quality differences between countries.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DTP1 → DTP3 DROP-OFF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331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100%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2918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48,321 matched country-year records, several countries (e.g. Sierra Leone 2007, DPR Korea 2022) show a complete drop from DTP1 to DTP3 — children starting the schedule but never completing it.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47091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points to health-system and follow-up gaps — not vaccine hesitancy at first contact — as a key driver of incomplete protection, and a clear lever for intervention (reminder systems, community health worker follow-up).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Real-World Health Scenarios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8412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691640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countries/areas average below 90% MCV1 coverage — Somalia, Ethiopia &amp; Afghanistan rank lowest and are top targets.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32888"/>
            <a:ext cx="73152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32888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outbreak response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532888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Typhoid (13.8M) and measles (2.0M) were the top reported-case diseases in 2023 — the most current outbreak signal.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74136"/>
            <a:ext cx="11274552" cy="8412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374136"/>
            <a:ext cx="73152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374136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demand estimate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3374136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vaccine antigens tracked with multi-year dose/target-population data, giving a baseline for demand forecasting by antigen and region.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15384"/>
            <a:ext cx="73152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215384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Polio in unvaccinated populations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4215384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Polio cases fell from ~158,000 (1980) to 126 (2016) as coverage rose — a near-eradication trajectory now showing early signs of resurgence.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056632"/>
            <a:ext cx="11274552" cy="8412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5056632"/>
            <a:ext cx="73152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056632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measles target tracking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5056632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MCV1 coverage has never reached 95%; recent years sit near 80%, a 15-point gap to the WHO elimination threshold.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CHECK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Limitations &amp; Not-Answerable Questions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project's 30 brief questions, a handful could not be answered with the provided datasets. Flagging this honestly is part of good analysis — it also defines clear next steps for data collection.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286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 vs. vaccination rates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2286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education/socioeconomic variable exists in any of the 5 source tables.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900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443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 in uptake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94436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data is recorded annually only — no month/quarter field is available.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6484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6027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 vs. coverage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60273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population-density variable is included in the datasets.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306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26110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vs. rural, gender-specific rates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426110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urban/rural flag; sex-disaggregated data exists only for 9 HPV-related antigen codes, not the full antigen set.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9651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9194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disparities within countries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491947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income, wealth-index, or class variable — WHO_REGION and country are used as the best available proxy.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556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Source Data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305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raw datasets (coverage, incidence, cases, vaccine introduction, vaccine schedule) cleaned and standardized in Python.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87121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Oracle Database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461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design — fact tables for coverage, cases, incidence, schedule and introduction, linked to geography, disease, antigen and year dimensions.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599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867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Notebook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36168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executed cells answering 10 easy, 10 medium and 10 scenario-based project questions via SQL + pandas, with correlation analysis and charts.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1755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1023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Workbook &amp; Dashboard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47725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vaccinationdataanalysis.pbix — interactive report connecting to the analysis outputs for filterable exploration by year, region, antigen and disease.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Recommendations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is rising but plateaued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31089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coverage climbed from 44% to ~84% then stalled in the low 80s — sustained investment is needed to close, not just approach, the 90–95% targets.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69164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9120" y="1920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Vaccination clearly reduces disease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880360"/>
            <a:ext cx="31089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Polio (−99%), pertussis (−92%) and measles (−83%) all fell sharply as coverage rose, and higher MCV1 coverage tracks with lower measles incidence.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169164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1920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Follow-through, not first contact, is the gap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2880360"/>
            <a:ext cx="31089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DTP1→DTP3 drop-off in several countries shows the challenge is often completing the schedule, not reaching people initially.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349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prioritize the lowest-coverage regions (Somalia, Ethiopia, West &amp; Central Africa) for resource allocation, invest in multi-dose follow-up systems to close the DTP1→DTP3 gap, and extend data collection to include population-density and socioeconomic variables for deeper equity analysis.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Data Analysis and Visualization  |  Python · Oracle SQL · Power BI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2026-09-18T20:04:04Z</dcterms:created>
  <dcterms:modified xsi:type="dcterms:W3CDTF">2026-09-18T20:04:04Z</dcterms:modified>
</cp:coreProperties>
</file>